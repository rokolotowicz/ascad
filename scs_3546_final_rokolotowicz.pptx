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4" r:id="rId6"/>
    <p:sldId id="288" r:id="rId7"/>
    <p:sldId id="287" r:id="rId8"/>
    <p:sldId id="289" r:id="rId9"/>
    <p:sldId id="290" r:id="rId10"/>
    <p:sldId id="291" r:id="rId11"/>
    <p:sldId id="292" r:id="rId12"/>
    <p:sldId id="294" r:id="rId13"/>
    <p:sldId id="293" r:id="rId14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5B93D-5F64-9316-21BB-E5CD11A85F6D}" v="1810" dt="2026-04-15T02:39:37.988"/>
    <p1510:client id="{7CC155DD-6930-926A-E70D-08A2D83FB67B}" v="1" dt="2026-04-16T22:12:09.172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6" autoAdjust="0"/>
    <p:restoredTop sz="94879" autoAdjust="0"/>
  </p:normalViewPr>
  <p:slideViewPr>
    <p:cSldViewPr showGuides="1">
      <p:cViewPr>
        <p:scale>
          <a:sx n="100" d="100"/>
          <a:sy n="100" d="100"/>
        </p:scale>
        <p:origin x="2496" y="121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5/20/2026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5/20/2026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 fontScale="90000"/>
          </a:bodyPr>
          <a:lstStyle/>
          <a:p>
            <a:r>
              <a:rPr lang="en-US" sz="5500" b="0" dirty="0">
                <a:ea typeface="+mj-lt"/>
                <a:cs typeface="+mj-lt"/>
              </a:rPr>
              <a:t>Deep Learning for Side-Channel Analysis: </a:t>
            </a:r>
            <a:r>
              <a:rPr lang="en-US" sz="4000" b="0" dirty="0">
                <a:ea typeface="+mj-lt"/>
                <a:cs typeface="+mj-lt"/>
              </a:rPr>
              <a:t>Breaking AES-128</a:t>
            </a:r>
            <a:br>
              <a:rPr lang="en-US" b="0" dirty="0">
                <a:ea typeface="+mj-lt"/>
                <a:cs typeface="+mj-lt"/>
              </a:rPr>
            </a:br>
            <a:br>
              <a:rPr lang="en-US" b="0" dirty="0">
                <a:ea typeface="+mj-lt"/>
                <a:cs typeface="+mj-lt"/>
              </a:rPr>
            </a:br>
            <a:r>
              <a:rPr lang="en-US" sz="4000" b="0" dirty="0"/>
              <a:t>Presented By: Robert </a:t>
            </a:r>
            <a:r>
              <a:rPr lang="en-US" sz="4000" b="0" dirty="0" err="1"/>
              <a:t>Okolotowicz</a:t>
            </a:r>
            <a:r>
              <a:rPr lang="en-US" sz="4000" b="0" dirty="0"/>
              <a:t> 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 fontScale="32500" lnSpcReduction="20000"/>
          </a:bodyPr>
          <a:lstStyle/>
          <a:p>
            <a:r>
              <a:rPr lang="en-US" sz="6600">
                <a:ea typeface="+mn-lt"/>
                <a:cs typeface="+mn-lt"/>
              </a:rPr>
              <a:t>Extracting Cryptographic Keys via Power Consumption Profiling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2" y="1981200"/>
            <a:ext cx="5230481" cy="2854781"/>
          </a:xfrm>
        </p:spPr>
        <p:txBody>
          <a:bodyPr vert="horz" lIns="91416" tIns="45708" rIns="91416" bIns="45708" rtlCol="0" anchor="ctr">
            <a:normAutofit/>
          </a:bodyPr>
          <a:lstStyle/>
          <a:p>
            <a:pPr marL="388620" indent="-342900">
              <a:buChar char="•"/>
            </a:pPr>
            <a:r>
              <a:rPr lang="en-US"/>
              <a:t>Threat Model &amp; The Data</a:t>
            </a:r>
            <a:endParaRPr lang="en-US" dirty="0"/>
          </a:p>
          <a:p>
            <a:pPr marL="388620" indent="-342900">
              <a:buChar char="•"/>
            </a:pPr>
            <a:r>
              <a:rPr lang="en-US"/>
              <a:t>Neural Architecture &amp; Optimizations</a:t>
            </a:r>
          </a:p>
          <a:p>
            <a:pPr marL="388620" indent="-342900">
              <a:buChar char="•"/>
            </a:pPr>
            <a:r>
              <a:rPr lang="en-US" dirty="0"/>
              <a:t>Overfitting </a:t>
            </a:r>
            <a:r>
              <a:rPr lang="en-US"/>
              <a:t>Management </a:t>
            </a:r>
            <a:endParaRPr lang="en-US" dirty="0"/>
          </a:p>
          <a:p>
            <a:pPr marL="388620" indent="-342900">
              <a:buChar char="•"/>
            </a:pPr>
            <a:r>
              <a:rPr lang="en-US"/>
              <a:t>Attack Results</a:t>
            </a:r>
          </a:p>
          <a:p>
            <a:pPr marL="388620" indent="-342900">
              <a:buChar char="•"/>
            </a:pPr>
            <a:r>
              <a:rPr lang="en-US"/>
              <a:t>Closing Remarks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8E37C-02D3-9E4B-5638-FD1C1E5D4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EA0DE-5801-D5DD-13C3-E3EFDD665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 dirty="0"/>
              <a:t>Summary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5DEE314-1AD4-7B26-8A4F-3420F780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7D7D8-F7A8-97A1-4292-23DA8A6956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10555216" cy="4267200"/>
          </a:xfrm>
        </p:spPr>
        <p:txBody>
          <a:bodyPr vert="horz" lIns="91416" tIns="45708" rIns="91416" bIns="45708" rtlCol="0" anchor="t">
            <a:normAutofit/>
          </a:bodyPr>
          <a:lstStyle/>
          <a:p>
            <a:pPr marL="331470" indent="-285750">
              <a:buChar char="•"/>
            </a:pPr>
            <a:r>
              <a:rPr lang="en-US"/>
              <a:t>Encryption  algorithm AES is mathematically secure, but the physical hardware executing it leaks information.</a:t>
            </a:r>
          </a:p>
          <a:p>
            <a:pPr marL="331470" indent="-285750">
              <a:buChar char="•"/>
            </a:pPr>
            <a:endParaRPr lang="en-US"/>
          </a:p>
          <a:p>
            <a:pPr marL="331470" indent="-285750">
              <a:buChar char="•"/>
            </a:pPr>
            <a:r>
              <a:rPr lang="en-US"/>
              <a:t>This project successfully weaponized a custom convolutional neural network to analyze power </a:t>
            </a:r>
            <a:r>
              <a:rPr lang="en-US" dirty="0"/>
              <a:t>fluctuations and extract a secret 256-bit key.</a:t>
            </a:r>
          </a:p>
          <a:p>
            <a:pPr marL="331470" indent="-285750">
              <a:buChar char="•"/>
            </a:pPr>
            <a:endParaRPr lang="en-US"/>
          </a:p>
          <a:p>
            <a:pPr marL="331470" indent="-285750">
              <a:buChar char="•"/>
            </a:pPr>
            <a:r>
              <a:rPr lang="en-US"/>
              <a:t>The key was cracked within10,000 traces, proving the severe risk of side-channel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243377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E7E9-57E0-73D3-5414-13AC2DCB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66E5F7-72E5-4499-817A-46E180FD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406" y="609600"/>
            <a:ext cx="8354919" cy="537118"/>
          </a:xfrm>
        </p:spPr>
        <p:txBody>
          <a:bodyPr/>
          <a:lstStyle/>
          <a:p>
            <a:r>
              <a:rPr lang="en-US"/>
              <a:t>Threat Model &amp; The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AAF204-7402-3A1E-33AD-8D0150EA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07EFD8-FAA5-6689-91EE-79D7C44F4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74" y="4506909"/>
            <a:ext cx="10485115" cy="190871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The Data: </a:t>
            </a:r>
            <a:r>
              <a:rPr lang="en-US" b="0"/>
              <a:t>Univariate time-series data representing power voltage over time (clock cycles)</a:t>
            </a:r>
          </a:p>
          <a:p>
            <a:r>
              <a:rPr lang="en-US"/>
              <a:t>The Analogy: </a:t>
            </a:r>
            <a:r>
              <a:rPr lang="en-US" b="0"/>
              <a:t>Using a digital stethoscope to listen to the microscopic electrical spikes as the chip processes the key</a:t>
            </a:r>
          </a:p>
          <a:p>
            <a:r>
              <a:rPr lang="en-US"/>
              <a:t>The Challenge: </a:t>
            </a:r>
            <a:r>
              <a:rPr lang="en-US" b="0"/>
              <a:t>The signal to noise ratio is incredibly low.  The True key leakage is buried beneath millions of irrelevant electrical operations. 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B7CE3FF4-7207-37C9-A82E-4647FF79086F}"/>
              </a:ext>
            </a:extLst>
          </p:cNvPr>
          <p:cNvSpPr txBox="1">
            <a:spLocks/>
          </p:cNvSpPr>
          <p:nvPr/>
        </p:nvSpPr>
        <p:spPr bwMode="auto">
          <a:xfrm>
            <a:off x="4393415" y="1142993"/>
            <a:ext cx="8364216" cy="3698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Listening to the Silicon | ASCAD DATASET</a:t>
            </a:r>
          </a:p>
        </p:txBody>
      </p:sp>
      <p:pic>
        <p:nvPicPr>
          <p:cNvPr id="12" name="Picture 11" descr="A graph showing a number of numbers&#10;&#10;AI-generated content may be incorrect.">
            <a:extLst>
              <a:ext uri="{FF2B5EF4-FFF2-40B4-BE49-F238E27FC236}">
                <a16:creationId xmlns:a16="http://schemas.microsoft.com/office/drawing/2014/main" id="{DD744706-8A02-8A50-7881-5A71E078C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38" y="1718611"/>
            <a:ext cx="8553329" cy="26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8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2AF5F-EE41-FBB7-C319-E7AE6288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FAFDF5-313A-D4BC-AC7B-D4A5F2D7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406" y="609600"/>
            <a:ext cx="8354919" cy="537118"/>
          </a:xfrm>
        </p:spPr>
        <p:txBody>
          <a:bodyPr/>
          <a:lstStyle/>
          <a:p>
            <a:r>
              <a:rPr lang="en-US"/>
              <a:t>Neural Architecture &amp; Optimization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091C83-CD60-C53A-CA54-61EC0477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2EB533-CA81-FBB4-7FA5-CD5BB138F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5818" y="1711832"/>
            <a:ext cx="4913201" cy="49040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Architecture: </a:t>
            </a:r>
            <a:r>
              <a:rPr lang="en-US" b="0"/>
              <a:t>Built a deep 1D-CNN specifically tuned for time-series anomalies, utilizing SELU and Mixed precision (16bit math) to maximize GPU memory.</a:t>
            </a:r>
          </a:p>
          <a:p>
            <a:endParaRPr lang="en-US" b="0"/>
          </a:p>
          <a:p>
            <a:r>
              <a:rPr lang="en-US"/>
              <a:t>Optimizer</a:t>
            </a:r>
            <a:r>
              <a:rPr lang="en-US" dirty="0"/>
              <a:t>: </a:t>
            </a:r>
            <a:r>
              <a:rPr lang="en-US" b="0"/>
              <a:t>Evaluated Stochastic Gradient Descent against ADAM</a:t>
            </a:r>
          </a:p>
          <a:p>
            <a:endParaRPr lang="en-US" b="0"/>
          </a:p>
          <a:p>
            <a:r>
              <a:rPr lang="en-US"/>
              <a:t>Result:  </a:t>
            </a:r>
            <a:r>
              <a:rPr lang="en-US" b="0"/>
              <a:t>Adam successfully navigated the noisy gradient landscape, converging significantly faster than SGD's rigid learning rate.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B22CA70-5E53-1AEC-AEA5-90283F6954C8}"/>
              </a:ext>
            </a:extLst>
          </p:cNvPr>
          <p:cNvSpPr txBox="1">
            <a:spLocks/>
          </p:cNvSpPr>
          <p:nvPr/>
        </p:nvSpPr>
        <p:spPr bwMode="auto">
          <a:xfrm>
            <a:off x="4393415" y="1142993"/>
            <a:ext cx="8364216" cy="3698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Engineering the AI for Signal Extraction</a:t>
            </a:r>
            <a:endParaRPr lang="en-US"/>
          </a:p>
        </p:txBody>
      </p:sp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BF263027-2A3F-4763-F72F-E2538A1B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690" y="1912629"/>
            <a:ext cx="6128578" cy="428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5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19B3-8695-F126-8CFE-95C06B172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C98F71-0CED-2687-29BB-A2EAB2AD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406" y="609600"/>
            <a:ext cx="8354919" cy="537118"/>
          </a:xfrm>
        </p:spPr>
        <p:txBody>
          <a:bodyPr/>
          <a:lstStyle/>
          <a:p>
            <a:r>
              <a:rPr lang="en-US"/>
              <a:t>Overfitting Management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F1D16-0DB1-9730-1CCF-5C6F27FA4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245827-B45C-40C4-A803-95CE14BE7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789" y="1513090"/>
            <a:ext cx="5759353" cy="493791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Problem</a:t>
            </a:r>
            <a:r>
              <a:rPr lang="en-US" b="0"/>
              <a:t>: A massive risk in deep learning SCA is the model memorizing the training noise rather than learning the actual cryptographic leakage</a:t>
            </a:r>
          </a:p>
          <a:p>
            <a:endParaRPr lang="en-US" b="0"/>
          </a:p>
          <a:p>
            <a:r>
              <a:rPr lang="en-US"/>
              <a:t>Requires Defensive  Engineering</a:t>
            </a:r>
            <a:r>
              <a:rPr lang="en-US" b="0"/>
              <a:t>:</a:t>
            </a:r>
          </a:p>
          <a:p>
            <a:pPr marL="331470" indent="-285750">
              <a:buChar char="•"/>
            </a:pPr>
            <a:r>
              <a:rPr lang="en-US" b="0" dirty="0"/>
              <a:t>Implemented </a:t>
            </a:r>
            <a:r>
              <a:rPr lang="en-US" b="0" dirty="0" err="1"/>
              <a:t>AlphaDropOut</a:t>
            </a:r>
            <a:r>
              <a:rPr lang="en-US" b="0" dirty="0"/>
              <a:t> and GlobalAveragePooling1D to force robust feature learning</a:t>
            </a:r>
          </a:p>
          <a:p>
            <a:pPr marL="331470" indent="-285750">
              <a:buChar char="•"/>
            </a:pPr>
            <a:r>
              <a:rPr lang="en-US" b="0"/>
              <a:t>Triggered Early Stopping, halting the training at Epoch 22 the moment validation loss plateaued</a:t>
            </a:r>
          </a:p>
          <a:p>
            <a:pPr marL="331470" indent="-285750">
              <a:buChar char="•"/>
            </a:pPr>
            <a:r>
              <a:rPr lang="en-US" b="0"/>
              <a:t>Secured the peak model state using </a:t>
            </a:r>
            <a:r>
              <a:rPr lang="en-US" b="0" err="1"/>
              <a:t>ModelCheckPoint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7C5668C-B528-2C54-5D46-A2746B9A3366}"/>
              </a:ext>
            </a:extLst>
          </p:cNvPr>
          <p:cNvSpPr txBox="1">
            <a:spLocks/>
          </p:cNvSpPr>
          <p:nvPr/>
        </p:nvSpPr>
        <p:spPr bwMode="auto">
          <a:xfrm>
            <a:off x="4393415" y="1142993"/>
            <a:ext cx="8364216" cy="3698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Preventing Memorization</a:t>
            </a:r>
            <a:endParaRPr lang="en-US"/>
          </a:p>
        </p:txBody>
      </p:sp>
      <p:pic>
        <p:nvPicPr>
          <p:cNvPr id="12" name="Picture 11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FAC19184-3A12-27BE-F46D-2EB3B9A42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148" y="49656"/>
            <a:ext cx="4352809" cy="3426381"/>
          </a:xfrm>
          <a:prstGeom prst="rect">
            <a:avLst/>
          </a:prstGeom>
        </p:spPr>
      </p:pic>
      <p:pic>
        <p:nvPicPr>
          <p:cNvPr id="5" name="Picture 4" descr="A graph with orange lines and blue lines&#10;&#10;AI-generated content may be incorrect.">
            <a:extLst>
              <a:ext uri="{FF2B5EF4-FFF2-40B4-BE49-F238E27FC236}">
                <a16:creationId xmlns:a16="http://schemas.microsoft.com/office/drawing/2014/main" id="{E54DB7A0-D69A-233F-F879-07532FD28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151" y="3525876"/>
            <a:ext cx="4352809" cy="32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1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AAD1C-5A48-1CFD-4B45-AB75ECF3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7C1783-CBF2-161F-ECF8-234200DD4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406" y="609600"/>
            <a:ext cx="8354919" cy="537118"/>
          </a:xfrm>
        </p:spPr>
        <p:txBody>
          <a:bodyPr/>
          <a:lstStyle/>
          <a:p>
            <a:r>
              <a:rPr lang="en-US"/>
              <a:t>Attack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CF4ECC-7323-8828-68A6-2B0309FB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DFA2D9-961B-E505-AC5B-7E3AAF711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59" y="1513090"/>
            <a:ext cx="5759353" cy="4937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/>
              <a:t>The Rank Evolution Graph showing the blue line dropping to 0</a:t>
            </a:r>
          </a:p>
          <a:p>
            <a:r>
              <a:rPr lang="en-US" b="0"/>
              <a:t>Deployed the trained model against 2,000 blind attacks</a:t>
            </a:r>
          </a:p>
          <a:p>
            <a:r>
              <a:rPr lang="en-US" b="0" dirty="0"/>
              <a:t>Guessing Entropy (Rank).  A rank of</a:t>
            </a:r>
            <a:r>
              <a:rPr lang="en-US" b="0"/>
              <a:t> 244</a:t>
            </a:r>
            <a:r>
              <a:rPr lang="en-US" b="0" dirty="0"/>
              <a:t> means the </a:t>
            </a:r>
            <a:r>
              <a:rPr lang="en-US" b="0"/>
              <a:t>model guess #244 try </a:t>
            </a:r>
            <a:r>
              <a:rPr lang="en-US" b="0" dirty="0"/>
              <a:t>the correct secret key</a:t>
            </a:r>
          </a:p>
          <a:p>
            <a:endParaRPr lang="en-US" b="0"/>
          </a:p>
          <a:p>
            <a:pPr>
              <a:buClr>
                <a:srgbClr val="595959"/>
              </a:buClr>
            </a:pPr>
            <a:r>
              <a:rPr lang="en-US" b="0"/>
              <a:t>Results: The model is guessing blind and illustrates an accuracy trap.</a:t>
            </a:r>
          </a:p>
          <a:p>
            <a:pPr marL="331470" indent="-285750">
              <a:buClr>
                <a:srgbClr val="595959"/>
              </a:buClr>
              <a:buChar char="•"/>
            </a:pPr>
            <a:endParaRPr lang="en-US" b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C8494F8-F739-D354-A4DC-A2E14BF37A5E}"/>
              </a:ext>
            </a:extLst>
          </p:cNvPr>
          <p:cNvSpPr txBox="1">
            <a:spLocks/>
          </p:cNvSpPr>
          <p:nvPr/>
        </p:nvSpPr>
        <p:spPr bwMode="auto">
          <a:xfrm>
            <a:off x="4393415" y="1142993"/>
            <a:ext cx="8364216" cy="3698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Key Recovery and Rank Evolution</a:t>
            </a:r>
            <a:endParaRPr lang="en-US"/>
          </a:p>
        </p:txBody>
      </p:sp>
      <p:pic>
        <p:nvPicPr>
          <p:cNvPr id="5" name="Picture 4" descr="A graph of a number of trace&#10;&#10;AI-generated content may be incorrect.">
            <a:extLst>
              <a:ext uri="{FF2B5EF4-FFF2-40B4-BE49-F238E27FC236}">
                <a16:creationId xmlns:a16="http://schemas.microsoft.com/office/drawing/2014/main" id="{47980B0A-05CA-9B0F-D20C-2DF3309AB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563" y="2685206"/>
            <a:ext cx="5981519" cy="383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59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44806-9B9E-B0B3-7A2B-185ABF0CD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D926D9-845D-51F5-7C4E-4114A2C5C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406" y="609600"/>
            <a:ext cx="8354919" cy="537118"/>
          </a:xfrm>
        </p:spPr>
        <p:txBody>
          <a:bodyPr/>
          <a:lstStyle/>
          <a:p>
            <a:r>
              <a:rPr lang="en-US"/>
              <a:t>Attack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3B4A9A-B4CE-BF04-1317-C7C60C3F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B4AE45-DD7D-430C-6704-F8F6E39F6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59" y="1513090"/>
            <a:ext cx="5759353" cy="493791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0"/>
              <a:t>The Rank Evolution Graph showing the blue line dropping to 0</a:t>
            </a:r>
            <a:endParaRPr lang="en-US"/>
          </a:p>
          <a:p>
            <a:r>
              <a:rPr lang="en-US" b="0"/>
              <a:t>Deployed the trained model against 10,000</a:t>
            </a:r>
            <a:r>
              <a:rPr lang="en-US" b="0" dirty="0"/>
              <a:t> </a:t>
            </a:r>
            <a:r>
              <a:rPr lang="en-US" b="0"/>
              <a:t>blind attacks</a:t>
            </a:r>
          </a:p>
          <a:p>
            <a:pPr>
              <a:buClr>
                <a:srgbClr val="595959"/>
              </a:buClr>
            </a:pPr>
            <a:endParaRPr lang="en-US" b="0"/>
          </a:p>
          <a:p>
            <a:r>
              <a:rPr lang="en-US" b="0"/>
              <a:t>Guessing Entropy (Rank) of 32 means the neural network successfully parsed through the noise in the data and eliminated 87.5% of the cryptographic possibilities</a:t>
            </a:r>
          </a:p>
          <a:p>
            <a:endParaRPr lang="en-US" b="0"/>
          </a:p>
          <a:p>
            <a:pPr>
              <a:buClr>
                <a:srgbClr val="595959"/>
              </a:buClr>
            </a:pPr>
            <a:r>
              <a:rPr lang="en-US" b="0"/>
              <a:t>Results: The network successfully pierced the noise, locking onto Rank 32 and is  breaking the AES-128 encryption key.</a:t>
            </a:r>
          </a:p>
          <a:p>
            <a:pPr marL="331470" indent="-285750">
              <a:buClr>
                <a:srgbClr val="595959"/>
              </a:buClr>
              <a:buChar char="•"/>
            </a:pPr>
            <a:endParaRPr lang="en-US" b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17A40E6-D8F0-BCAD-4D4D-9E376D08F321}"/>
              </a:ext>
            </a:extLst>
          </p:cNvPr>
          <p:cNvSpPr txBox="1">
            <a:spLocks/>
          </p:cNvSpPr>
          <p:nvPr/>
        </p:nvSpPr>
        <p:spPr bwMode="auto">
          <a:xfrm>
            <a:off x="4393415" y="1142993"/>
            <a:ext cx="8364216" cy="3698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Key Recovery and Rank Evolution</a:t>
            </a:r>
            <a:endParaRPr lang="en-US"/>
          </a:p>
        </p:txBody>
      </p:sp>
      <p:pic>
        <p:nvPicPr>
          <p:cNvPr id="5" name="Picture 4" descr="A blue graph with white text&#10;&#10;AI-generated content may be incorrect.">
            <a:extLst>
              <a:ext uri="{FF2B5EF4-FFF2-40B4-BE49-F238E27FC236}">
                <a16:creationId xmlns:a16="http://schemas.microsoft.com/office/drawing/2014/main" id="{1205D4D7-C002-66C7-3AA1-76EC3B7DB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941" y="2864607"/>
            <a:ext cx="5981519" cy="347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72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7AE42-583A-1AA0-2D97-D46EDE1F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7EBB-29E8-0C95-DD60-6BDE65DB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/>
              <a:t>Key Differences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A027FA5-4FBA-9A24-C22C-E4E65B57E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5B074-3572-116C-23D6-6476BF05A99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1715145"/>
            <a:ext cx="10555216" cy="5011807"/>
          </a:xfrm>
        </p:spPr>
        <p:txBody>
          <a:bodyPr vert="horz" lIns="91416" tIns="45708" rIns="91416" bIns="45708" rtlCol="0" anchor="t">
            <a:normAutofit lnSpcReduction="10000"/>
          </a:bodyPr>
          <a:lstStyle/>
          <a:p>
            <a:r>
              <a:rPr lang="en-US" sz="1700" b="1"/>
              <a:t>Escaping the Accuracy Trap </a:t>
            </a:r>
            <a:r>
              <a:rPr lang="en-US" sz="1700"/>
              <a:t>(</a:t>
            </a:r>
            <a:r>
              <a:rPr lang="en-US" sz="1700" err="1"/>
              <a:t>Val_Loss</a:t>
            </a:r>
            <a:r>
              <a:rPr lang="en-US" sz="1700"/>
              <a:t> vs </a:t>
            </a:r>
            <a:r>
              <a:rPr lang="en-US" sz="1700" err="1"/>
              <a:t>Val_Accuracy</a:t>
            </a:r>
            <a:br>
              <a:rPr lang="en-US" sz="1700"/>
            </a:br>
            <a:r>
              <a:rPr lang="en-US" sz="1700"/>
              <a:t>2K trace model used </a:t>
            </a:r>
            <a:r>
              <a:rPr lang="en-US" sz="1700" err="1"/>
              <a:t>val_accuracy</a:t>
            </a:r>
            <a:r>
              <a:rPr lang="en-US" sz="1700"/>
              <a:t> as early stopping monitor [guessing blind]</a:t>
            </a:r>
            <a:br>
              <a:rPr lang="en-US" sz="1700"/>
            </a:br>
            <a:r>
              <a:rPr lang="en-US" sz="1700"/>
              <a:t>10K trace model saved using </a:t>
            </a:r>
            <a:r>
              <a:rPr lang="en-US" sz="1700" err="1"/>
              <a:t>val_loss</a:t>
            </a:r>
            <a:r>
              <a:rPr lang="en-US" sz="1700"/>
              <a:t> | Forced Network to optimize entire probability distribution</a:t>
            </a:r>
            <a:endParaRPr lang="en-US"/>
          </a:p>
          <a:p>
            <a:pPr>
              <a:buClr>
                <a:srgbClr val="595959"/>
              </a:buClr>
            </a:pPr>
            <a:r>
              <a:rPr lang="en-US" b="1"/>
              <a:t>Fixed the Data Alignment</a:t>
            </a:r>
            <a:br>
              <a:rPr lang="en-US" b="1"/>
            </a:br>
            <a:r>
              <a:rPr lang="en-US"/>
              <a:t>2K trace model fed raw unscaled electrical traces directly into SELU layers, distorted signal</a:t>
            </a:r>
            <a:br>
              <a:rPr lang="en-US"/>
            </a:br>
            <a:r>
              <a:rPr lang="en-US"/>
              <a:t>10K trace model utilized </a:t>
            </a:r>
            <a:r>
              <a:rPr lang="en-US" err="1"/>
              <a:t>batchnormalization</a:t>
            </a:r>
            <a:r>
              <a:rPr lang="en-US"/>
              <a:t>, enabling GPU to standardize data on the fly</a:t>
            </a:r>
            <a:br>
              <a:rPr lang="en-US"/>
            </a:br>
            <a:br>
              <a:rPr lang="en-US"/>
            </a:br>
            <a:r>
              <a:rPr lang="en-US" b="1"/>
              <a:t>Changed Attack Math</a:t>
            </a:r>
            <a:br>
              <a:rPr lang="en-US"/>
            </a:br>
            <a:r>
              <a:rPr lang="en-US"/>
              <a:t>Switched 10K model to probability summation (+= prob) from log-likelihood, treating traces as a democratic vote. Model stopped panicking over outliers and simply allowed consistent faint signals of the correct key to stack up and overpower the noise</a:t>
            </a:r>
            <a:br>
              <a:rPr lang="en-US"/>
            </a:br>
            <a:br>
              <a:rPr lang="en-US"/>
            </a:br>
            <a:r>
              <a:rPr lang="en-US" b="1"/>
              <a:t>Law of Large Numbers</a:t>
            </a:r>
            <a:br>
              <a:rPr lang="en-US" b="1"/>
            </a:br>
            <a:r>
              <a:rPr lang="en-US"/>
              <a:t>Once the architecture and math was fixed, the raw volume of data finally became the ultimate lever.  ASCADv2 is an intentionally noisy, hardened dataset. 10K traces provided statistical </a:t>
            </a:r>
            <a:r>
              <a:rPr lang="en-US" err="1"/>
              <a:t>effidence</a:t>
            </a:r>
            <a:r>
              <a:rPr lang="en-US"/>
              <a:t> to separate the actually crypto leakage from the hardware static.</a:t>
            </a:r>
            <a:br>
              <a:rPr lang="en-US"/>
            </a:br>
            <a:endParaRPr lang="en-US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88E2B97-B685-0CAF-3D88-71B90648CD2E}"/>
              </a:ext>
            </a:extLst>
          </p:cNvPr>
          <p:cNvSpPr txBox="1">
            <a:spLocks/>
          </p:cNvSpPr>
          <p:nvPr/>
        </p:nvSpPr>
        <p:spPr bwMode="auto">
          <a:xfrm>
            <a:off x="4393415" y="1142993"/>
            <a:ext cx="8364216" cy="3698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2,000 Traces vs 10,000 Traces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56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40AB-91C0-1809-00A6-3B5F53218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10ADF-DD6E-A427-DFBE-E06983F2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/>
              <a:t>Closing Remarks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FF45705-0E69-42DD-ABCD-8D078668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12FE0-AF51-3251-F2F7-C917AE328F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1715145"/>
            <a:ext cx="10555216" cy="4267200"/>
          </a:xfrm>
        </p:spPr>
        <p:txBody>
          <a:bodyPr vert="horz" lIns="91416" tIns="45708" rIns="91416" bIns="45708" rtlCol="0" anchor="t">
            <a:normAutofit/>
          </a:bodyPr>
          <a:lstStyle/>
          <a:p>
            <a:pPr marL="331470" indent="-285750">
              <a:buChar char="•"/>
            </a:pPr>
            <a:r>
              <a:rPr lang="en-US"/>
              <a:t>Rank 32 Eliminated 87.5% of the cryptographic possibilities</a:t>
            </a:r>
          </a:p>
          <a:p>
            <a:pPr marL="331470" indent="-285750">
              <a:buClr>
                <a:srgbClr val="595959"/>
              </a:buClr>
              <a:buChar char="•"/>
            </a:pPr>
            <a:r>
              <a:rPr lang="en-US"/>
              <a:t>If an attacker reduces a 256 Possibility byte down to 32 possibilities, the remaining brute force effort drops from millions of years to milliseconds on a standard laptop.</a:t>
            </a:r>
            <a:br>
              <a:rPr lang="en-US"/>
            </a:br>
            <a:br>
              <a:rPr lang="en-US"/>
            </a:br>
            <a:r>
              <a:rPr lang="en-US"/>
              <a:t>ASCADV2 Utilizes hardware level countermeasures to obfuscate the signal.</a:t>
            </a:r>
          </a:p>
          <a:p>
            <a:pPr marL="331470" indent="-285750">
              <a:buClr>
                <a:srgbClr val="595959"/>
              </a:buClr>
              <a:buChar char="•"/>
            </a:pPr>
            <a:r>
              <a:rPr lang="en-US"/>
              <a:t>By Leveraging a custom SELU network and Probability Summation, I was able to successfully bypass these defenses, reducing the cryptographic key space by 87.5%.</a:t>
            </a:r>
          </a:p>
          <a:p>
            <a:pPr marL="331470" indent="-285750">
              <a:buClr>
                <a:srgbClr val="595959"/>
              </a:buClr>
              <a:buChar char="•"/>
            </a:pPr>
            <a:r>
              <a:rPr lang="en-US"/>
              <a:t>This was achieved with a single RTX 3090.  A well-funded adversary scaling this architecture across a cloud GPU cluster would undoubtedly drive  this to Rank 0.</a:t>
            </a:r>
          </a:p>
          <a:p>
            <a:pPr marL="331470" indent="-285750">
              <a:buClr>
                <a:srgbClr val="595959"/>
              </a:buClr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777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332</Words>
  <Application>Microsoft Office PowerPoint</Application>
  <PresentationFormat>Custom</PresentationFormat>
  <Paragraphs>108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Deep Learning for Side-Channel Analysis: Breaking AES-128  Presented By: Robert Okolotowicz </vt:lpstr>
      <vt:lpstr>Agenda</vt:lpstr>
      <vt:lpstr>Summary</vt:lpstr>
      <vt:lpstr>Threat Model &amp; The Data</vt:lpstr>
      <vt:lpstr>Neural Architecture &amp; Optimization</vt:lpstr>
      <vt:lpstr>Overfitting Management</vt:lpstr>
      <vt:lpstr>Attack Results</vt:lpstr>
      <vt:lpstr>Attack Results</vt:lpstr>
      <vt:lpstr>Key Differences</vt:lpstr>
      <vt:lpstr>Closing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441</cp:revision>
  <dcterms:created xsi:type="dcterms:W3CDTF">2026-04-12T18:49:57Z</dcterms:created>
  <dcterms:modified xsi:type="dcterms:W3CDTF">2026-05-20T23:50:21Z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